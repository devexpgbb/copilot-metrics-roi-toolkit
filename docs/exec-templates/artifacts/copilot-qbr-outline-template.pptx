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83879" y="0"/>
            <a:ext cx="4005072" cy="6858000"/>
          </a:xfrm>
          <a:prstGeom prst="rect">
            <a:avLst/>
          </a:prstGeom>
          <a:solidFill>
            <a:srgbClr val="243B7A"/>
          </a:solidFill>
          <a:ln>
            <a:solidFill>
              <a:srgbClr val="243B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5486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Aptos"/>
              </a:rPr>
              <a:t>GitHub Copilot
QBR Template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743200"/>
            <a:ext cx="548640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CADCFC"/>
                </a:solidFill>
                <a:latin typeface="Aptos"/>
              </a:rPr>
              <a:t>Quarterly executive deck skeleton for adoption, impact, ROI, and next-quarter actions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3794760"/>
            <a:ext cx="1874519" cy="310896"/>
          </a:xfrm>
          <a:prstGeom prst="roundRect">
            <a:avLst/>
          </a:prstGeom>
          <a:solidFill>
            <a:srgbClr val="F9E795"/>
          </a:solidFill>
          <a:ln>
            <a:solidFill>
              <a:srgbClr val="F9E7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3867912"/>
            <a:ext cx="1764791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172033"/>
                </a:solidFill>
                <a:latin typeface="Aptos"/>
              </a:rPr>
              <a:t>Quarter + scope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3794760"/>
            <a:ext cx="1938528" cy="310896"/>
          </a:xfrm>
          <a:prstGeom prst="roundRect">
            <a:avLst/>
          </a:prstGeom>
          <a:solidFill>
            <a:srgbClr val="D9F5EA"/>
          </a:solidFill>
          <a:ln>
            <a:solidFill>
              <a:srgbClr val="D9F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52344" y="3867912"/>
            <a:ext cx="1828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172033"/>
                </a:solidFill>
                <a:latin typeface="Aptos"/>
              </a:rPr>
              <a:t>Outcome-led story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00600" y="3794760"/>
            <a:ext cx="1783080" cy="310896"/>
          </a:xfrm>
          <a:prstGeom prst="roundRect">
            <a:avLst/>
          </a:prstGeom>
          <a:solidFill>
            <a:srgbClr val="FCE1DB"/>
          </a:solidFill>
          <a:ln>
            <a:solidFill>
              <a:srgbClr val="FCE1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55464" y="3867912"/>
            <a:ext cx="167335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172033"/>
                </a:solidFill>
                <a:latin typeface="Aptos"/>
              </a:rPr>
              <a:t>Trim by audience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663440"/>
            <a:ext cx="5577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Aptos"/>
              </a:rPr>
              <a:t>Use the next slides to move from reach -&gt; engagement -&gt; outcomes -&gt; ROI -&gt; actions.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0" y="1051560"/>
            <a:ext cx="2697480" cy="4526280"/>
          </a:xfrm>
          <a:prstGeom prst="roundRect">
            <a:avLst/>
          </a:prstGeom>
          <a:solidFill>
            <a:srgbClr val="314892"/>
          </a:solidFill>
          <a:ln>
            <a:solidFill>
              <a:srgbClr val="3148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06840" y="1325880"/>
            <a:ext cx="2057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Cover slide
fill-in checklist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88552" y="2084831"/>
            <a:ext cx="210312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>
                <a:solidFill>
                  <a:srgbClr val="FFFFFF"/>
                </a:solidFill>
                <a:latin typeface="Aptos"/>
              </a:rPr>
              <a:t>Quarter and fiscal period</a:t>
            </a:r>
          </a:p>
          <a:p>
            <a:pPr algn="l"/>
            <a:r>
              <a:rPr sz="1150">
                <a:solidFill>
                  <a:srgbClr val="FFFFFF"/>
                </a:solidFill>
                <a:latin typeface="Aptos"/>
              </a:rPr>
              <a:t>Population covered</a:t>
            </a:r>
          </a:p>
          <a:p>
            <a:pPr algn="l"/>
            <a:r>
              <a:rPr sz="1150">
                <a:solidFill>
                  <a:srgbClr val="FFFFFF"/>
                </a:solidFill>
                <a:latin typeface="Aptos"/>
              </a:rPr>
              <a:t>Owner and review date</a:t>
            </a:r>
          </a:p>
          <a:p>
            <a:pPr algn="l"/>
            <a:r>
              <a:rPr sz="1150">
                <a:solidFill>
                  <a:srgbClr val="FFFFFF"/>
                </a:solidFill>
                <a:latin typeface="Aptos"/>
              </a:rPr>
              <a:t>Business theme, not tooling theme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88552" y="4187952"/>
            <a:ext cx="2103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F9E795"/>
                </a:solidFill>
                <a:latin typeface="Aptos"/>
              </a:rPr>
              <a:t>Example subtitle:
From broad adoption to measurable delivery impact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7680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172033"/>
                </a:solidFill>
                <a:latin typeface="Aptos"/>
              </a:rPr>
              <a:t>Slide 1: 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58952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4D5B78"/>
                </a:solidFill>
                <a:latin typeface="Aptos"/>
              </a:rPr>
              <a:t>Give leaders the quarter in 60 seconds.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11183112" cy="109728"/>
          </a:xfrm>
          <a:prstGeom prst="rect">
            <a:avLst/>
          </a:prstGeom>
          <a:solidFill>
            <a:srgbClr val="CADCFC"/>
          </a:solidFill>
          <a:ln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49640" y="384048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1E2761"/>
                </a:solidFill>
                <a:latin typeface="Aptos"/>
              </a:rPr>
              <a:t>Three headlines + one decision ask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365760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8E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527048"/>
            <a:ext cx="3438144" cy="329184"/>
          </a:xfrm>
          <a:prstGeom prst="roundRect">
            <a:avLst/>
          </a:prstGeom>
          <a:solidFill>
            <a:srgbClr val="1E2761"/>
          </a:solidFill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572768"/>
            <a:ext cx="32186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Headline 1 - Adoption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84248"/>
            <a:ext cx="3291840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172033"/>
                </a:solidFill>
                <a:latin typeface="Aptos"/>
              </a:rPr>
              <a:t>Fill with:</a:t>
            </a:r>
            <a:r>
              <a:rPr sz="1150">
                <a:solidFill>
                  <a:srgbClr val="172033"/>
                </a:solidFill>
                <a:latin typeface="Aptos"/>
              </a:rPr>
              <a:t> reach, trend, and quarter-over-quarter movement.</a:t>
            </a:r>
          </a:p>
          <a:p>
            <a:pPr algn="l"/>
            <a:r>
              <a:rPr sz="1150" b="1">
                <a:solidFill>
                  <a:srgbClr val="172033"/>
                </a:solidFill>
                <a:latin typeface="Aptos"/>
              </a:rPr>
              <a:t>Example:</a:t>
            </a:r>
            <a:r>
              <a:rPr sz="1150">
                <a:solidFill>
                  <a:srgbClr val="172033"/>
                </a:solidFill>
                <a:latin typeface="Aptos"/>
              </a:rPr>
              <a:t> Seat utilization reached 78%, up 16 points quarter over quarter.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0248" y="1417320"/>
            <a:ext cx="365760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8E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79976" y="1527048"/>
            <a:ext cx="3438144" cy="329184"/>
          </a:xfrm>
          <a:prstGeom prst="roundRect">
            <a:avLst/>
          </a:prstGeom>
          <a:solidFill>
            <a:srgbClr val="1E2761"/>
          </a:solidFill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9704" y="1572768"/>
            <a:ext cx="32186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Headline 2 - Outcome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3128" y="1984248"/>
            <a:ext cx="3291840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172033"/>
                </a:solidFill>
                <a:latin typeface="Aptos"/>
              </a:rPr>
              <a:t>Fill with:</a:t>
            </a:r>
            <a:r>
              <a:rPr sz="1150">
                <a:solidFill>
                  <a:srgbClr val="172033"/>
                </a:solidFill>
                <a:latin typeface="Aptos"/>
              </a:rPr>
              <a:t> one delivery or quality result tied to high adoption.</a:t>
            </a:r>
          </a:p>
          <a:p>
            <a:pPr algn="l"/>
            <a:r>
              <a:rPr sz="1150" b="1">
                <a:solidFill>
                  <a:srgbClr val="172033"/>
                </a:solidFill>
                <a:latin typeface="Aptos"/>
              </a:rPr>
              <a:t>Example:</a:t>
            </a:r>
            <a:r>
              <a:rPr sz="1150">
                <a:solidFill>
                  <a:srgbClr val="172033"/>
                </a:solidFill>
                <a:latin typeface="Aptos"/>
              </a:rPr>
              <a:t> High-adoption teams merged pull requests 19% faster than low-adoption teams.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6" y="1417320"/>
            <a:ext cx="365760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8E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01583" y="1527048"/>
            <a:ext cx="3438144" cy="329184"/>
          </a:xfrm>
          <a:prstGeom prst="roundRect">
            <a:avLst/>
          </a:prstGeom>
          <a:solidFill>
            <a:srgbClr val="1E2761"/>
          </a:solidFill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11312" y="1572768"/>
            <a:ext cx="32186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Headline 3 - Focus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74736" y="1984248"/>
            <a:ext cx="3291840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172033"/>
                </a:solidFill>
                <a:latin typeface="Aptos"/>
              </a:rPr>
              <a:t>Fill with:</a:t>
            </a:r>
            <a:r>
              <a:rPr sz="1150">
                <a:solidFill>
                  <a:srgbClr val="172033"/>
                </a:solidFill>
                <a:latin typeface="Aptos"/>
              </a:rPr>
              <a:t> the main gap plus the action already underway.</a:t>
            </a:r>
          </a:p>
          <a:p>
            <a:pPr algn="l"/>
            <a:r>
              <a:rPr sz="1150" b="1">
                <a:solidFill>
                  <a:srgbClr val="172033"/>
                </a:solidFill>
                <a:latin typeface="Aptos"/>
              </a:rPr>
              <a:t>Example:</a:t>
            </a:r>
            <a:r>
              <a:rPr sz="1150">
                <a:solidFill>
                  <a:srgbClr val="172033"/>
                </a:solidFill>
                <a:latin typeface="Aptos"/>
              </a:rPr>
              <a:t> Agent-mode adoption remains low at 14%; targeted enablement starts next month.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657600"/>
            <a:ext cx="7424927" cy="1783080"/>
          </a:xfrm>
          <a:prstGeom prst="roundRect">
            <a:avLst/>
          </a:prstGeom>
          <a:solidFill>
            <a:srgbClr val="EAF0FF"/>
          </a:solidFill>
          <a:ln>
            <a:solidFill>
              <a:srgbClr val="D8E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58368" y="3767328"/>
            <a:ext cx="7205471" cy="329184"/>
          </a:xfrm>
          <a:prstGeom prst="roundRect">
            <a:avLst/>
          </a:prstGeom>
          <a:solidFill>
            <a:srgbClr val="243B7A"/>
          </a:solidFill>
          <a:ln>
            <a:solidFill>
              <a:srgbClr val="243B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3813048"/>
            <a:ext cx="6986015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Presenter cue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224528"/>
            <a:ext cx="7059167" cy="1069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>
                <a:solidFill>
                  <a:srgbClr val="172033"/>
                </a:solidFill>
                <a:latin typeface="Aptos"/>
              </a:rPr>
              <a:t>Stay declarative; do not explain methods here.</a:t>
            </a:r>
          </a:p>
          <a:p>
            <a:pPr algn="l"/>
            <a:r>
              <a:rPr sz="1150">
                <a:solidFill>
                  <a:srgbClr val="172033"/>
                </a:solidFill>
                <a:latin typeface="Aptos"/>
              </a:rPr>
              <a:t>Use one slide minute or less.</a:t>
            </a:r>
          </a:p>
          <a:p>
            <a:pPr algn="l"/>
            <a:r>
              <a:rPr sz="1150">
                <a:solidFill>
                  <a:srgbClr val="172033"/>
                </a:solidFill>
                <a:latin typeface="Aptos"/>
              </a:rPr>
              <a:t>Set up the adoption-to-ROI narrative explicitly.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8160" y="3657600"/>
            <a:ext cx="3511296" cy="1783080"/>
          </a:xfrm>
          <a:prstGeom prst="roundRect">
            <a:avLst/>
          </a:prstGeom>
          <a:solidFill>
            <a:srgbClr val="F9E795"/>
          </a:solidFill>
          <a:ln>
            <a:solidFill>
              <a:srgbClr val="D8E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47888" y="3767328"/>
            <a:ext cx="3291839" cy="329184"/>
          </a:xfrm>
          <a:prstGeom prst="roundRect">
            <a:avLst/>
          </a:prstGeom>
          <a:solidFill>
            <a:srgbClr val="7B6400"/>
          </a:solidFill>
          <a:ln>
            <a:solidFill>
              <a:srgbClr val="7B6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57616" y="3813048"/>
            <a:ext cx="307238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Decision ask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4224528"/>
            <a:ext cx="3145536" cy="1069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20" b="1">
                <a:solidFill>
                  <a:srgbClr val="172033"/>
                </a:solidFill>
                <a:latin typeface="Aptos"/>
              </a:rPr>
              <a:t>Prompt:</a:t>
            </a:r>
            <a:r>
              <a:rPr sz="1120">
                <a:solidFill>
                  <a:srgbClr val="172033"/>
                </a:solidFill>
                <a:latin typeface="Aptos"/>
              </a:rPr>
              <a:t> End with one executive endorsement or decision.</a:t>
            </a:r>
          </a:p>
          <a:p>
            <a:pPr algn="l"/>
            <a:r>
              <a:rPr sz="1120" b="1">
                <a:solidFill>
                  <a:srgbClr val="172033"/>
                </a:solidFill>
                <a:latin typeface="Aptos"/>
              </a:rPr>
              <a:t>Example:</a:t>
            </a:r>
            <a:r>
              <a:rPr sz="1120">
                <a:solidFill>
                  <a:srgbClr val="172033"/>
                </a:solidFill>
                <a:latin typeface="Aptos"/>
              </a:rPr>
              <a:t> Approve continued rollout plus focused enablement for three under-engaged orgs.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19088"/>
            <a:ext cx="64008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4D5B78"/>
                </a:solidFill>
                <a:latin typeface="Aptos"/>
              </a:rPr>
              <a:t>Bridge: If the summary sounds strong, show whether adoption is broad and durable.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600" y="6419088"/>
            <a:ext cx="2240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4D5B78"/>
                </a:solidFill>
                <a:latin typeface="Aptos"/>
              </a:rPr>
              <a:t>GitHub Copilot QBR Template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7680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172033"/>
                </a:solidFill>
                <a:latin typeface="Aptos"/>
              </a:rPr>
              <a:t>Slide 2: Adoption Snapshot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58952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4D5B78"/>
                </a:solidFill>
                <a:latin typeface="Aptos"/>
              </a:rPr>
              <a:t>Show whether usage is broad enough to justify continued investment.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11183112" cy="109728"/>
          </a:xfrm>
          <a:prstGeom prst="rect">
            <a:avLst/>
          </a:prstGeom>
          <a:solidFill>
            <a:srgbClr val="CADCFC"/>
          </a:solidFill>
          <a:ln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49640" y="384048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1E2761"/>
                </a:solidFill>
                <a:latin typeface="Aptos"/>
              </a:rPr>
              <a:t>Coverage, repeat usage, and quality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5074920" cy="4251960"/>
          </a:xfrm>
          <a:prstGeom prst="roundRect">
            <a:avLst/>
          </a:prstGeom>
          <a:solidFill>
            <a:srgbClr val="FFFFFF"/>
          </a:solidFill>
          <a:ln>
            <a:solidFill>
              <a:srgbClr val="D8E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527048"/>
            <a:ext cx="4855464" cy="329184"/>
          </a:xfrm>
          <a:prstGeom prst="roundRect">
            <a:avLst/>
          </a:prstGeom>
          <a:solidFill>
            <a:srgbClr val="243B7A"/>
          </a:solidFill>
          <a:ln>
            <a:solidFill>
              <a:srgbClr val="243B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572768"/>
            <a:ext cx="46360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Visual direction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84248"/>
            <a:ext cx="4709159" cy="3538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60" b="1">
                <a:solidFill>
                  <a:srgbClr val="172033"/>
                </a:solidFill>
                <a:latin typeface="Aptos"/>
              </a:rPr>
              <a:t>Show:</a:t>
            </a:r>
            <a:r>
              <a:rPr sz="1160">
                <a:solidFill>
                  <a:srgbClr val="172033"/>
                </a:solidFill>
                <a:latin typeface="Aptos"/>
              </a:rPr>
              <a:t> one trend chart for utilization and monthly active users.</a:t>
            </a:r>
          </a:p>
          <a:p>
            <a:pPr algn="l"/>
            <a:r>
              <a:rPr sz="1160" b="1">
                <a:solidFill>
                  <a:srgbClr val="172033"/>
                </a:solidFill>
                <a:latin typeface="Aptos"/>
              </a:rPr>
              <a:t>Support with:</a:t>
            </a:r>
            <a:r>
              <a:rPr sz="1160">
                <a:solidFill>
                  <a:srgbClr val="172033"/>
                </a:solidFill>
                <a:latin typeface="Aptos"/>
              </a:rPr>
              <a:t> a compact KPI row for DAU/MAU, acceptance rate, and chat engagement.</a:t>
            </a:r>
          </a:p>
          <a:p>
            <a:pPr algn="l"/>
            <a:r>
              <a:rPr sz="1160" b="1">
                <a:solidFill>
                  <a:srgbClr val="172033"/>
                </a:solidFill>
                <a:latin typeface="Aptos"/>
              </a:rPr>
              <a:t>Headline:</a:t>
            </a:r>
            <a:r>
              <a:rPr sz="1160">
                <a:solidFill>
                  <a:srgbClr val="172033"/>
                </a:solidFill>
                <a:latin typeface="Aptos"/>
              </a:rPr>
              <a:t> Adoption is no longer the bottleneck: coverage is healthy, and repeat usage rose alongside acceptance quality.</a:t>
            </a:r>
          </a:p>
          <a:p>
            <a:pPr algn="l"/>
            <a:r>
              <a:rPr sz="1160" b="1">
                <a:solidFill>
                  <a:srgbClr val="172033"/>
                </a:solidFill>
                <a:latin typeface="Aptos"/>
              </a:rPr>
              <a:t>Commentary:</a:t>
            </a:r>
            <a:r>
              <a:rPr sz="1160">
                <a:solidFill>
                  <a:srgbClr val="172033"/>
                </a:solidFill>
                <a:latin typeface="Aptos"/>
              </a:rPr>
              <a:t> Explain the two biggest movements and whether they are durable or seasonal.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3063240"/>
            <a:ext cx="4434840" cy="2057400"/>
          </a:xfrm>
          <a:prstGeom prst="roundRect">
            <a:avLst/>
          </a:prstGeom>
          <a:solidFill>
            <a:srgbClr val="F6F8FC"/>
          </a:solidFill>
          <a:ln>
            <a:solidFill>
              <a:srgbClr val="D8E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3657600"/>
            <a:ext cx="3611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4D5B78"/>
                </a:solidFill>
                <a:latin typeface="Aptos"/>
              </a:rPr>
              <a:t>Trend chart placeholder
Seat utilization + MAU by month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97880" y="1417320"/>
            <a:ext cx="269748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D8E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07608" y="1527048"/>
            <a:ext cx="2478024" cy="329184"/>
          </a:xfrm>
          <a:prstGeom prst="roundRect">
            <a:avLst/>
          </a:prstGeom>
          <a:solidFill>
            <a:srgbClr val="1E2761"/>
          </a:solidFill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17336" y="1572768"/>
            <a:ext cx="225856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Must-show KPIs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1984248"/>
            <a:ext cx="2331720" cy="1207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>
                <a:solidFill>
                  <a:srgbClr val="172033"/>
                </a:solidFill>
                <a:latin typeface="Aptos"/>
              </a:rPr>
              <a:t>Seat utilization</a:t>
            </a:r>
          </a:p>
          <a:p>
            <a:pPr algn="l"/>
            <a:r>
              <a:rPr sz="1150">
                <a:solidFill>
                  <a:srgbClr val="172033"/>
                </a:solidFill>
                <a:latin typeface="Aptos"/>
              </a:rPr>
              <a:t>Monthly active users</a:t>
            </a:r>
          </a:p>
          <a:p>
            <a:pPr algn="l"/>
            <a:r>
              <a:rPr sz="1150">
                <a:solidFill>
                  <a:srgbClr val="172033"/>
                </a:solidFill>
                <a:latin typeface="Aptos"/>
              </a:rPr>
              <a:t>DAU / MAU</a:t>
            </a:r>
          </a:p>
          <a:p>
            <a:pPr algn="l"/>
            <a:r>
              <a:rPr sz="1150">
                <a:solidFill>
                  <a:srgbClr val="172033"/>
                </a:solidFill>
                <a:latin typeface="Aptos"/>
              </a:rPr>
              <a:t>Acceptance rate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78240" y="1417320"/>
            <a:ext cx="2880360" cy="1920240"/>
          </a:xfrm>
          <a:prstGeom prst="roundRect">
            <a:avLst/>
          </a:prstGeom>
          <a:solidFill>
            <a:srgbClr val="D9F5EA"/>
          </a:solidFill>
          <a:ln>
            <a:solidFill>
              <a:srgbClr val="D8E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887967" y="1527048"/>
            <a:ext cx="2660904" cy="329184"/>
          </a:xfrm>
          <a:prstGeom prst="roundRect">
            <a:avLst/>
          </a:prstGeom>
          <a:solidFill>
            <a:srgbClr val="2C6E49"/>
          </a:solidFill>
          <a:ln>
            <a:solidFill>
              <a:srgbClr val="2C6E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97696" y="1572768"/>
            <a:ext cx="24414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Why it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19" y="1984248"/>
            <a:ext cx="2514600" cy="1207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>
                <a:solidFill>
                  <a:srgbClr val="172033"/>
                </a:solidFill>
                <a:latin typeface="Aptos"/>
              </a:rPr>
              <a:t>Coverage and license hygiene</a:t>
            </a:r>
          </a:p>
          <a:p>
            <a:pPr algn="l"/>
            <a:r>
              <a:rPr sz="1150">
                <a:solidFill>
                  <a:srgbClr val="172033"/>
                </a:solidFill>
                <a:latin typeface="Aptos"/>
              </a:rPr>
              <a:t>Repeat behavior over trial activity</a:t>
            </a:r>
          </a:p>
          <a:p>
            <a:pPr algn="l"/>
            <a:r>
              <a:rPr sz="1150">
                <a:solidFill>
                  <a:srgbClr val="172033"/>
                </a:solidFill>
                <a:latin typeface="Aptos"/>
              </a:rPr>
              <a:t>Signal that suggestions fit workflow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97880" y="3611880"/>
            <a:ext cx="5760720" cy="2057400"/>
          </a:xfrm>
          <a:prstGeom prst="roundRect">
            <a:avLst/>
          </a:prstGeom>
          <a:solidFill>
            <a:srgbClr val="EAF0FF"/>
          </a:solidFill>
          <a:ln>
            <a:solidFill>
              <a:srgbClr val="D8E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007608" y="3721608"/>
            <a:ext cx="5541264" cy="329184"/>
          </a:xfrm>
          <a:prstGeom prst="roundRect">
            <a:avLst/>
          </a:prstGeom>
          <a:solidFill>
            <a:srgbClr val="243B7A"/>
          </a:solidFill>
          <a:ln>
            <a:solidFill>
              <a:srgbClr val="243B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17336" y="3767328"/>
            <a:ext cx="532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Bridge to Slide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78808"/>
            <a:ext cx="5394959" cy="1344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172033"/>
                </a:solidFill>
                <a:latin typeface="Aptos"/>
              </a:rPr>
              <a:t>Talk track:</a:t>
            </a:r>
            <a:r>
              <a:rPr sz="1150">
                <a:solidFill>
                  <a:srgbClr val="172033"/>
                </a:solidFill>
                <a:latin typeface="Aptos"/>
              </a:rPr>
              <a:t> Coverage alone is not enough; the next slide shows whether people are using the higher-value capabilities that tend to correlate with better outcomes.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19088"/>
            <a:ext cx="64008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4D5B78"/>
                </a:solidFill>
                <a:latin typeface="Aptos"/>
              </a:rPr>
              <a:t>Keep one reporting window and one baseline across all adoption metrics.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72600" y="6419088"/>
            <a:ext cx="2240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4D5B78"/>
                </a:solidFill>
                <a:latin typeface="Aptos"/>
              </a:rPr>
              <a:t>GitHub Copilot QBR Template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7680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172033"/>
                </a:solidFill>
                <a:latin typeface="Aptos"/>
              </a:rPr>
              <a:t>Slide 3: Engagement Quality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58952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4D5B78"/>
                </a:solidFill>
                <a:latin typeface="Aptos"/>
              </a:rPr>
              <a:t>Show how people are using Copilot, not just whether they opened 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11183112" cy="109728"/>
          </a:xfrm>
          <a:prstGeom prst="rect">
            <a:avLst/>
          </a:prstGeom>
          <a:solidFill>
            <a:srgbClr val="CADCFC"/>
          </a:solidFill>
          <a:ln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49640" y="384048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1E2761"/>
                </a:solidFill>
                <a:latin typeface="Aptos"/>
              </a:rPr>
              <a:t>Depth of use across workflows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274320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8E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527048"/>
            <a:ext cx="2523744" cy="329184"/>
          </a:xfrm>
          <a:prstGeom prst="roundRect">
            <a:avLst/>
          </a:prstGeom>
          <a:solidFill>
            <a:srgbClr val="1E2761"/>
          </a:solidFill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572768"/>
            <a:ext cx="23042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Feature mix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84248"/>
            <a:ext cx="2377440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172033"/>
                </a:solidFill>
                <a:latin typeface="Aptos"/>
              </a:rPr>
              <a:t>Show:</a:t>
            </a:r>
            <a:r>
              <a:rPr sz="1150">
                <a:solidFill>
                  <a:srgbClr val="172033"/>
                </a:solidFill>
                <a:latin typeface="Aptos"/>
              </a:rPr>
              <a:t> completions, chat, edits or agents, and PR help.</a:t>
            </a:r>
          </a:p>
          <a:p>
            <a:pPr algn="l"/>
            <a:r>
              <a:rPr sz="1150" b="1">
                <a:solidFill>
                  <a:srgbClr val="172033"/>
                </a:solidFill>
                <a:latin typeface="Aptos"/>
              </a:rPr>
              <a:t>Insight:</a:t>
            </a:r>
            <a:r>
              <a:rPr sz="1150">
                <a:solidFill>
                  <a:srgbClr val="172033"/>
                </a:solidFill>
                <a:latin typeface="Aptos"/>
              </a:rPr>
              <a:t> Call out one behavior that signals maturity.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1417320"/>
            <a:ext cx="274320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8E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84448" y="1527048"/>
            <a:ext cx="2523744" cy="329184"/>
          </a:xfrm>
          <a:prstGeom prst="roundRect">
            <a:avLst/>
          </a:prstGeom>
          <a:solidFill>
            <a:srgbClr val="1E2761"/>
          </a:solidFill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94176" y="1572768"/>
            <a:ext cx="23042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Top languages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1984248"/>
            <a:ext cx="2377440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172033"/>
                </a:solidFill>
                <a:latin typeface="Aptos"/>
              </a:rPr>
              <a:t>Show:</a:t>
            </a:r>
            <a:r>
              <a:rPr sz="1150">
                <a:solidFill>
                  <a:srgbClr val="172033"/>
                </a:solidFill>
                <a:latin typeface="Aptos"/>
              </a:rPr>
              <a:t> accepted suggestions and acceptance rate by language.</a:t>
            </a:r>
          </a:p>
          <a:p>
            <a:pPr algn="l"/>
            <a:r>
              <a:rPr sz="1150" b="1">
                <a:solidFill>
                  <a:srgbClr val="172033"/>
                </a:solidFill>
                <a:latin typeface="Aptos"/>
              </a:rPr>
              <a:t>Insight:</a:t>
            </a:r>
            <a:r>
              <a:rPr sz="1150">
                <a:solidFill>
                  <a:srgbClr val="172033"/>
                </a:solidFill>
                <a:latin typeface="Aptos"/>
              </a:rPr>
              <a:t> Name one language that needs enablement.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1417320"/>
            <a:ext cx="274320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8E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10528" y="1527048"/>
            <a:ext cx="2523744" cy="329184"/>
          </a:xfrm>
          <a:prstGeom prst="roundRect">
            <a:avLst/>
          </a:prstGeom>
          <a:solidFill>
            <a:srgbClr val="1E2761"/>
          </a:solidFill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0256" y="1572768"/>
            <a:ext cx="23042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IDE distribution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1984248"/>
            <a:ext cx="2377440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172033"/>
                </a:solidFill>
                <a:latin typeface="Aptos"/>
              </a:rPr>
              <a:t>Show:</a:t>
            </a:r>
            <a:r>
              <a:rPr sz="1150">
                <a:solidFill>
                  <a:srgbClr val="172033"/>
                </a:solidFill>
                <a:latin typeface="Aptos"/>
              </a:rPr>
              <a:t> active users by editor family.</a:t>
            </a:r>
          </a:p>
          <a:p>
            <a:pPr algn="l"/>
            <a:r>
              <a:rPr sz="1150" b="1">
                <a:solidFill>
                  <a:srgbClr val="172033"/>
                </a:solidFill>
                <a:latin typeface="Aptos"/>
              </a:rPr>
              <a:t>Insight:</a:t>
            </a:r>
            <a:r>
              <a:rPr sz="1150">
                <a:solidFill>
                  <a:srgbClr val="172033"/>
                </a:solidFill>
                <a:latin typeface="Aptos"/>
              </a:rPr>
              <a:t> Tie plugin rollout or workflow change to the mix.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26880" y="1417320"/>
            <a:ext cx="2331720" cy="2011680"/>
          </a:xfrm>
          <a:prstGeom prst="roundRect">
            <a:avLst/>
          </a:prstGeom>
          <a:solidFill>
            <a:srgbClr val="F9E795"/>
          </a:solidFill>
          <a:ln>
            <a:solidFill>
              <a:srgbClr val="D8E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436607" y="1527048"/>
            <a:ext cx="2112263" cy="329184"/>
          </a:xfrm>
          <a:prstGeom prst="roundRect">
            <a:avLst/>
          </a:prstGeom>
          <a:solidFill>
            <a:srgbClr val="7B6400"/>
          </a:solidFill>
          <a:ln>
            <a:solidFill>
              <a:srgbClr val="7B6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46336" y="1572768"/>
            <a:ext cx="1892807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Agent trend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59" y="1984248"/>
            <a:ext cx="1965960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80" b="1">
                <a:solidFill>
                  <a:srgbClr val="172033"/>
                </a:solidFill>
                <a:latin typeface="Aptos"/>
              </a:rPr>
              <a:t>Show:</a:t>
            </a:r>
            <a:r>
              <a:rPr sz="1080">
                <a:solidFill>
                  <a:srgbClr val="172033"/>
                </a:solidFill>
                <a:latin typeface="Aptos"/>
              </a:rPr>
              <a:t> the last 3-4 months.</a:t>
            </a:r>
          </a:p>
          <a:p>
            <a:pPr algn="l"/>
            <a:r>
              <a:rPr sz="1080" b="1">
                <a:solidFill>
                  <a:srgbClr val="172033"/>
                </a:solidFill>
                <a:latin typeface="Aptos"/>
              </a:rPr>
              <a:t>Example:</a:t>
            </a:r>
            <a:r>
              <a:rPr sz="1080">
                <a:solidFill>
                  <a:srgbClr val="172033"/>
                </a:solidFill>
                <a:latin typeface="Aptos"/>
              </a:rPr>
              <a:t> Agent usage doubled from 7% to 14%.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703320"/>
            <a:ext cx="6400800" cy="1965960"/>
          </a:xfrm>
          <a:prstGeom prst="roundRect">
            <a:avLst/>
          </a:prstGeom>
          <a:solidFill>
            <a:srgbClr val="EAF0FF"/>
          </a:solidFill>
          <a:ln>
            <a:solidFill>
              <a:srgbClr val="D8E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58368" y="3813048"/>
            <a:ext cx="6181344" cy="329184"/>
          </a:xfrm>
          <a:prstGeom prst="roundRect">
            <a:avLst/>
          </a:prstGeom>
          <a:solidFill>
            <a:srgbClr val="243B7A"/>
          </a:solidFill>
          <a:ln>
            <a:solidFill>
              <a:srgbClr val="243B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" y="3858768"/>
            <a:ext cx="59618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Visual direction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270248"/>
            <a:ext cx="6035040" cy="1252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>
                <a:solidFill>
                  <a:srgbClr val="172033"/>
                </a:solidFill>
                <a:latin typeface="Aptos"/>
              </a:rPr>
              <a:t>Use a 2x2 layout with one chart or table in each quadrant.</a:t>
            </a:r>
          </a:p>
          <a:p>
            <a:pPr algn="l"/>
            <a:r>
              <a:rPr sz="1150">
                <a:solidFill>
                  <a:srgbClr val="172033"/>
                </a:solidFill>
                <a:latin typeface="Aptos"/>
              </a:rPr>
              <a:t>Keep labels short; let callouts carry the insight.</a:t>
            </a:r>
          </a:p>
          <a:p>
            <a:pPr algn="l"/>
            <a:r>
              <a:rPr sz="1150">
                <a:solidFill>
                  <a:srgbClr val="172033"/>
                </a:solidFill>
                <a:latin typeface="Aptos"/>
              </a:rPr>
              <a:t>Highlight one mature behavior and one under-realized behavior.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0" y="3703320"/>
            <a:ext cx="4526280" cy="1965960"/>
          </a:xfrm>
          <a:prstGeom prst="roundRect">
            <a:avLst/>
          </a:prstGeom>
          <a:solidFill>
            <a:srgbClr val="FCE1DB"/>
          </a:solidFill>
          <a:ln>
            <a:solidFill>
              <a:srgbClr val="D8E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242048" y="3813048"/>
            <a:ext cx="4306824" cy="329184"/>
          </a:xfrm>
          <a:prstGeom prst="roundRect">
            <a:avLst/>
          </a:prstGeom>
          <a:solidFill>
            <a:srgbClr val="A54B37"/>
          </a:solidFill>
          <a:ln>
            <a:solidFill>
              <a:srgbClr val="A54B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51775" y="3858768"/>
            <a:ext cx="408736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Bridge to Slide 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4270248"/>
            <a:ext cx="4160520" cy="1252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172033"/>
                </a:solidFill>
                <a:latin typeface="Aptos"/>
              </a:rPr>
              <a:t>Talk track:</a:t>
            </a:r>
            <a:r>
              <a:rPr sz="1150">
                <a:solidFill>
                  <a:srgbClr val="172033"/>
                </a:solidFill>
                <a:latin typeface="Aptos"/>
              </a:rPr>
              <a:t> This is where the audience asks whether deeper engagement changed engineering outcomes; answer that directly on the next slide.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19088"/>
            <a:ext cx="64008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4D5B78"/>
                </a:solidFill>
                <a:latin typeface="Aptos"/>
              </a:rPr>
              <a:t>Prefer one insight sentence per lens instead of crowding the slide with raw numbers.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72600" y="6419088"/>
            <a:ext cx="2240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4D5B78"/>
                </a:solidFill>
                <a:latin typeface="Aptos"/>
              </a:rPr>
              <a:t>GitHub Copilot QBR Template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7680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172033"/>
                </a:solidFill>
                <a:latin typeface="Aptos"/>
              </a:rPr>
              <a:t>Slide 4: Impact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58952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4D5B78"/>
                </a:solidFill>
                <a:latin typeface="Aptos"/>
              </a:rPr>
              <a:t>Connect adoption and engagement to delivery outcomes with honest confidence levels.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11183112" cy="109728"/>
          </a:xfrm>
          <a:prstGeom prst="rect">
            <a:avLst/>
          </a:prstGeom>
          <a:solidFill>
            <a:srgbClr val="CADCFC"/>
          </a:solidFill>
          <a:ln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49640" y="384048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1E2761"/>
                </a:solidFill>
                <a:latin typeface="Aptos"/>
              </a:rPr>
              <a:t>Directional evidence, not overclaimed causality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6537960" cy="4251960"/>
          </a:xfrm>
          <a:prstGeom prst="roundRect">
            <a:avLst/>
          </a:prstGeom>
          <a:solidFill>
            <a:srgbClr val="FFFFFF"/>
          </a:solidFill>
          <a:ln>
            <a:solidFill>
              <a:srgbClr val="D8E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527048"/>
            <a:ext cx="6318504" cy="329184"/>
          </a:xfrm>
          <a:prstGeom prst="roundRect">
            <a:avLst/>
          </a:prstGeom>
          <a:solidFill>
            <a:srgbClr val="243B7A"/>
          </a:solidFill>
          <a:ln>
            <a:solidFill>
              <a:srgbClr val="243B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572768"/>
            <a:ext cx="60990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Metrics to compare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84248"/>
            <a:ext cx="6172200" cy="3538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172033"/>
                </a:solidFill>
                <a:latin typeface="Aptos"/>
              </a:rPr>
              <a:t>Include:</a:t>
            </a:r>
            <a:r>
              <a:rPr sz="1150">
                <a:solidFill>
                  <a:srgbClr val="172033"/>
                </a:solidFill>
                <a:latin typeface="Aptos"/>
              </a:rPr>
              <a:t> PR cycle time, deployment frequency, time to first review, and change failure rate.</a:t>
            </a:r>
          </a:p>
          <a:p>
            <a:pPr algn="l"/>
            <a:r>
              <a:rPr sz="1150" b="1">
                <a:solidFill>
                  <a:srgbClr val="172033"/>
                </a:solidFill>
                <a:latin typeface="Aptos"/>
              </a:rPr>
              <a:t>Baseline:</a:t>
            </a:r>
            <a:r>
              <a:rPr sz="1150">
                <a:solidFill>
                  <a:srgbClr val="172033"/>
                </a:solidFill>
                <a:latin typeface="Aptos"/>
              </a:rPr>
              <a:t> Use one pre-rollout or prior-quarter baseline for the same cohort.</a:t>
            </a:r>
          </a:p>
          <a:p>
            <a:pPr algn="l"/>
            <a:r>
              <a:rPr sz="1150" b="1">
                <a:solidFill>
                  <a:srgbClr val="172033"/>
                </a:solidFill>
                <a:latin typeface="Aptos"/>
              </a:rPr>
              <a:t>Current:</a:t>
            </a:r>
            <a:r>
              <a:rPr sz="1150">
                <a:solidFill>
                  <a:srgbClr val="172033"/>
                </a:solidFill>
                <a:latin typeface="Aptos"/>
              </a:rPr>
              <a:t> Show median or p75 values for the current quarter.</a:t>
            </a:r>
          </a:p>
          <a:p>
            <a:pPr algn="l"/>
            <a:r>
              <a:rPr sz="1150" b="1">
                <a:solidFill>
                  <a:srgbClr val="172033"/>
                </a:solidFill>
                <a:latin typeface="Aptos"/>
              </a:rPr>
              <a:t>Confidence:</a:t>
            </a:r>
            <a:r>
              <a:rPr sz="1150">
                <a:solidFill>
                  <a:srgbClr val="172033"/>
                </a:solidFill>
                <a:latin typeface="Aptos"/>
              </a:rPr>
              <a:t> Label each metric high, medium, or low based on data quality and competing process changes.</a:t>
            </a:r>
          </a:p>
          <a:p>
            <a:pPr algn="l"/>
            <a:r>
              <a:rPr sz="1150" b="1">
                <a:solidFill>
                  <a:srgbClr val="172033"/>
                </a:solidFill>
                <a:latin typeface="Aptos"/>
              </a:rPr>
              <a:t>Cohorts:</a:t>
            </a:r>
            <a:r>
              <a:rPr sz="1150">
                <a:solidFill>
                  <a:srgbClr val="172033"/>
                </a:solidFill>
                <a:latin typeface="Aptos"/>
              </a:rPr>
              <a:t> Compare high-, medium-, and low-adoption teams to show directional correlation.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0" y="1417320"/>
            <a:ext cx="4343400" cy="1965960"/>
          </a:xfrm>
          <a:prstGeom prst="roundRect">
            <a:avLst/>
          </a:prstGeom>
          <a:solidFill>
            <a:srgbClr val="D9F5EA"/>
          </a:solidFill>
          <a:ln>
            <a:solidFill>
              <a:srgbClr val="D8E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424927" y="1527048"/>
            <a:ext cx="4123944" cy="329184"/>
          </a:xfrm>
          <a:prstGeom prst="roundRect">
            <a:avLst/>
          </a:prstGeom>
          <a:solidFill>
            <a:srgbClr val="2C6E49"/>
          </a:solidFill>
          <a:ln>
            <a:solidFill>
              <a:srgbClr val="2C6E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34656" y="1572768"/>
            <a:ext cx="3904487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Executive headline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1984248"/>
            <a:ext cx="3977639" cy="1252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172033"/>
                </a:solidFill>
                <a:latin typeface="Aptos"/>
              </a:rPr>
              <a:t>The strongest evidence of impact is faster review and merge flow among teams that combine high utilization with heavier chat and edit-mode usage.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3657600"/>
            <a:ext cx="4343400" cy="2011680"/>
          </a:xfrm>
          <a:prstGeom prst="roundRect">
            <a:avLst/>
          </a:prstGeom>
          <a:solidFill>
            <a:srgbClr val="EAF0FF"/>
          </a:solidFill>
          <a:ln>
            <a:solidFill>
              <a:srgbClr val="D8E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424927" y="3767328"/>
            <a:ext cx="4123944" cy="329184"/>
          </a:xfrm>
          <a:prstGeom prst="roundRect">
            <a:avLst/>
          </a:prstGeom>
          <a:solidFill>
            <a:srgbClr val="243B7A"/>
          </a:solidFill>
          <a:ln>
            <a:solidFill>
              <a:srgbClr val="243B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34656" y="3813048"/>
            <a:ext cx="3904487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Bridge to Slide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4224528"/>
            <a:ext cx="3977639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72033"/>
                </a:solidFill>
                <a:latin typeface="Aptos"/>
              </a:rPr>
              <a:t>Talk track:</a:t>
            </a:r>
            <a:r>
              <a:rPr sz="1200">
                <a:solidFill>
                  <a:srgbClr val="172033"/>
                </a:solidFill>
                <a:latin typeface="Aptos"/>
              </a:rPr>
              <a:t> Once the delivery signal is clear, translate it into the business lens executives will use to judge the program: value versus cost.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19088"/>
            <a:ext cx="64008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4D5B78"/>
                </a:solidFill>
                <a:latin typeface="Aptos"/>
              </a:rPr>
              <a:t>Be explicit about what the evidence does and does not prove.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2600" y="6419088"/>
            <a:ext cx="2240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4D5B78"/>
                </a:solidFill>
                <a:latin typeface="Aptos"/>
              </a:rPr>
              <a:t>GitHub Copilot QBR Template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7680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172033"/>
                </a:solidFill>
                <a:latin typeface="Aptos"/>
              </a:rPr>
              <a:t>Slide 5: ROI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58952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4D5B78"/>
                </a:solidFill>
                <a:latin typeface="Aptos"/>
              </a:rPr>
              <a:t>Turn engineering improvement signals into a defensible financial story.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11183112" cy="109728"/>
          </a:xfrm>
          <a:prstGeom prst="rect">
            <a:avLst/>
          </a:prstGeom>
          <a:solidFill>
            <a:srgbClr val="CADCFC"/>
          </a:solidFill>
          <a:ln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49640" y="384048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1E2761"/>
                </a:solidFill>
                <a:latin typeface="Aptos"/>
              </a:rPr>
              <a:t>Cost, value, net, and key drivers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3840480" cy="4480560"/>
          </a:xfrm>
          <a:prstGeom prst="roundRect">
            <a:avLst/>
          </a:prstGeom>
          <a:solidFill>
            <a:srgbClr val="1E2761"/>
          </a:solidFill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82880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CADCFC"/>
                </a:solidFill>
                <a:latin typeface="Aptos"/>
              </a:rPr>
              <a:t>Annualized ROI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31720"/>
            <a:ext cx="33832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Aptos"/>
              </a:rPr>
              <a:t>[X]%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40480"/>
            <a:ext cx="3063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0">
                <a:solidFill>
                  <a:srgbClr val="FFFFFF"/>
                </a:solidFill>
                <a:latin typeface="Aptos"/>
              </a:rPr>
              <a:t>Use an annualized run rate only when your quarterly assumptions are stable and reviewable.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1463040"/>
            <a:ext cx="224028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8E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73168" y="1572768"/>
            <a:ext cx="2020824" cy="329184"/>
          </a:xfrm>
          <a:prstGeom prst="roundRect">
            <a:avLst/>
          </a:prstGeom>
          <a:solidFill>
            <a:srgbClr val="1E2761"/>
          </a:solidFill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82896" y="1618488"/>
            <a:ext cx="180136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Quarterly cost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2029968"/>
            <a:ext cx="1874520" cy="704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>
                <a:solidFill>
                  <a:srgbClr val="172033"/>
                </a:solidFill>
                <a:latin typeface="Aptos"/>
              </a:rPr>
              <a:t>$31,500 in quarterly license cost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0" y="1463040"/>
            <a:ext cx="246888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8E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242048" y="1572768"/>
            <a:ext cx="2249424" cy="329184"/>
          </a:xfrm>
          <a:prstGeom prst="roundRect">
            <a:avLst/>
          </a:prstGeom>
          <a:solidFill>
            <a:srgbClr val="1E2761"/>
          </a:solidFill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1775" y="1618488"/>
            <a:ext cx="202996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Estimated value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2029968"/>
            <a:ext cx="2103120" cy="704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>
                <a:solidFill>
                  <a:srgbClr val="172033"/>
                </a:solidFill>
                <a:latin typeface="Aptos"/>
              </a:rPr>
              <a:t>$118,000 in modeled quarterly value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829800" y="1463040"/>
            <a:ext cx="1828800" cy="1417320"/>
          </a:xfrm>
          <a:prstGeom prst="roundRect">
            <a:avLst/>
          </a:prstGeom>
          <a:solidFill>
            <a:srgbClr val="F9E795"/>
          </a:solidFill>
          <a:ln>
            <a:solidFill>
              <a:srgbClr val="D8E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939528" y="1572768"/>
            <a:ext cx="1609344" cy="329184"/>
          </a:xfrm>
          <a:prstGeom prst="roundRect">
            <a:avLst/>
          </a:prstGeom>
          <a:solidFill>
            <a:srgbClr val="7B6400"/>
          </a:solidFill>
          <a:ln>
            <a:solidFill>
              <a:srgbClr val="7B6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49256" y="1618488"/>
            <a:ext cx="13898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Net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12680" y="2029968"/>
            <a:ext cx="1463040" cy="704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>
                <a:solidFill>
                  <a:srgbClr val="172033"/>
                </a:solidFill>
                <a:latin typeface="Aptos"/>
              </a:rPr>
              <a:t>$86,500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3200400"/>
            <a:ext cx="6995160" cy="2743200"/>
          </a:xfrm>
          <a:prstGeom prst="roundRect">
            <a:avLst/>
          </a:prstGeom>
          <a:solidFill>
            <a:srgbClr val="FFFFFF"/>
          </a:solidFill>
          <a:ln>
            <a:solidFill>
              <a:srgbClr val="D8E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773168" y="3310128"/>
            <a:ext cx="6775704" cy="329184"/>
          </a:xfrm>
          <a:prstGeom prst="roundRect">
            <a:avLst/>
          </a:prstGeom>
          <a:solidFill>
            <a:srgbClr val="243B7A"/>
          </a:solidFill>
          <a:ln>
            <a:solidFill>
              <a:srgbClr val="243B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82896" y="3355848"/>
            <a:ext cx="65562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Driver guidance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3767328"/>
            <a:ext cx="6629400" cy="20299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20" b="1">
                <a:solidFill>
                  <a:srgbClr val="172033"/>
                </a:solidFill>
                <a:latin typeface="Aptos"/>
              </a:rPr>
              <a:t>Include:</a:t>
            </a:r>
            <a:r>
              <a:rPr sz="1220">
                <a:solidFill>
                  <a:srgbClr val="172033"/>
                </a:solidFill>
                <a:latin typeface="Aptos"/>
              </a:rPr>
              <a:t> 2-4 defensible drivers such as developer time saved, throughput gain, reduced review latency, or incident avoidance.</a:t>
            </a:r>
          </a:p>
          <a:p>
            <a:pPr algn="l"/>
            <a:r>
              <a:rPr sz="1220" b="1">
                <a:solidFill>
                  <a:srgbClr val="172033"/>
                </a:solidFill>
                <a:latin typeface="Aptos"/>
              </a:rPr>
              <a:t>Avoid:</a:t>
            </a:r>
            <a:r>
              <a:rPr sz="1220">
                <a:solidFill>
                  <a:srgbClr val="172033"/>
                </a:solidFill>
                <a:latin typeface="Aptos"/>
              </a:rPr>
              <a:t> Stacking speculative benefits without a reviewable assumption basis.</a:t>
            </a:r>
          </a:p>
          <a:p>
            <a:pPr algn="l"/>
            <a:r>
              <a:rPr sz="1220" b="1">
                <a:solidFill>
                  <a:srgbClr val="172033"/>
                </a:solidFill>
                <a:latin typeface="Aptos"/>
              </a:rPr>
              <a:t>Method:</a:t>
            </a:r>
            <a:r>
              <a:rPr sz="1220">
                <a:solidFill>
                  <a:srgbClr val="172033"/>
                </a:solidFill>
                <a:latin typeface="Aptos"/>
              </a:rPr>
              <a:t> Keep calculation detail in the ROI one-pager, not on this slide.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19088"/>
            <a:ext cx="64008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4D5B78"/>
                </a:solidFill>
                <a:latin typeface="Aptos"/>
              </a:rPr>
              <a:t>Bridge: Numbers land better when they sound true to the people closest to the work.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600" y="6419088"/>
            <a:ext cx="2240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4D5B78"/>
                </a:solidFill>
                <a:latin typeface="Aptos"/>
              </a:rPr>
              <a:t>GitHub Copilot QBR Template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7680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172033"/>
                </a:solidFill>
                <a:latin typeface="Aptos"/>
              </a:rPr>
              <a:t>Slide 6: Proof Points and Success Stories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58952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4D5B78"/>
                </a:solidFill>
                <a:latin typeface="Aptos"/>
              </a:rPr>
              <a:t>Make the program credible with examples that sound like lived experience.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11183112" cy="109728"/>
          </a:xfrm>
          <a:prstGeom prst="rect">
            <a:avLst/>
          </a:prstGeom>
          <a:solidFill>
            <a:srgbClr val="CADCFC"/>
          </a:solidFill>
          <a:ln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49640" y="384048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1E2761"/>
                </a:solidFill>
                <a:latin typeface="Aptos"/>
              </a:rPr>
              <a:t>Two quote cards + one proof card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44752"/>
            <a:ext cx="3611880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D8E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554480"/>
            <a:ext cx="3392424" cy="329184"/>
          </a:xfrm>
          <a:prstGeom prst="roundRect">
            <a:avLst/>
          </a:prstGeom>
          <a:solidFill>
            <a:srgbClr val="1E2761"/>
          </a:solidFill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600200"/>
            <a:ext cx="317296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Story card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011680"/>
            <a:ext cx="3246120" cy="3584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172033"/>
                </a:solidFill>
                <a:latin typeface="Aptos"/>
              </a:rPr>
              <a:t>Team:</a:t>
            </a:r>
            <a:r>
              <a:rPr sz="1150">
                <a:solidFill>
                  <a:srgbClr val="172033"/>
                </a:solidFill>
                <a:latin typeface="Aptos"/>
              </a:rPr>
              <a:t> Payments platform team</a:t>
            </a:r>
          </a:p>
          <a:p>
            <a:pPr algn="l"/>
            <a:r>
              <a:rPr sz="1150" b="1">
                <a:solidFill>
                  <a:srgbClr val="172033"/>
                </a:solidFill>
                <a:latin typeface="Aptos"/>
              </a:rPr>
              <a:t>Situation:</a:t>
            </a:r>
            <a:r>
              <a:rPr sz="1150">
                <a:solidFill>
                  <a:srgbClr val="172033"/>
                </a:solidFill>
                <a:latin typeface="Aptos"/>
              </a:rPr>
              <a:t> Large API migrations and repetitive test updates.</a:t>
            </a:r>
          </a:p>
          <a:p>
            <a:pPr algn="l"/>
            <a:r>
              <a:rPr sz="1150" b="1">
                <a:solidFill>
                  <a:srgbClr val="172033"/>
                </a:solidFill>
                <a:latin typeface="Aptos"/>
              </a:rPr>
              <a:t>Result:</a:t>
            </a:r>
            <a:r>
              <a:rPr sz="1150">
                <a:solidFill>
                  <a:srgbClr val="172033"/>
                </a:solidFill>
                <a:latin typeface="Aptos"/>
              </a:rPr>
              <a:t> Review-ready pull requests now land one day sooner.</a:t>
            </a:r>
          </a:p>
          <a:p>
            <a:pPr algn="l"/>
            <a:r>
              <a:rPr sz="1150" b="1">
                <a:solidFill>
                  <a:srgbClr val="172033"/>
                </a:solidFill>
                <a:latin typeface="Aptos"/>
              </a:rPr>
              <a:t>Quote:</a:t>
            </a:r>
            <a:r>
              <a:rPr sz="1150">
                <a:solidFill>
                  <a:srgbClr val="172033"/>
                </a:solidFill>
                <a:latin typeface="Aptos"/>
              </a:rPr>
              <a:t> "Copilot is most valuable when we use chat and edits together during refactors."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5968" y="1444752"/>
            <a:ext cx="3611880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D8E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25696" y="1554480"/>
            <a:ext cx="3392424" cy="329184"/>
          </a:xfrm>
          <a:prstGeom prst="roundRect">
            <a:avLst/>
          </a:prstGeom>
          <a:solidFill>
            <a:srgbClr val="1E2761"/>
          </a:solidFill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35424" y="1600200"/>
            <a:ext cx="317296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Story card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848" y="2011680"/>
            <a:ext cx="3246120" cy="3584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30" b="1">
                <a:solidFill>
                  <a:srgbClr val="172033"/>
                </a:solidFill>
                <a:latin typeface="Aptos"/>
              </a:rPr>
              <a:t>Team:</a:t>
            </a:r>
            <a:r>
              <a:rPr sz="1130">
                <a:solidFill>
                  <a:srgbClr val="172033"/>
                </a:solidFill>
                <a:latin typeface="Aptos"/>
              </a:rPr>
              <a:t> Frontend guild lead</a:t>
            </a:r>
          </a:p>
          <a:p>
            <a:pPr algn="l"/>
            <a:r>
              <a:rPr sz="1130" b="1">
                <a:solidFill>
                  <a:srgbClr val="172033"/>
                </a:solidFill>
                <a:latin typeface="Aptos"/>
              </a:rPr>
              <a:t>Situation:</a:t>
            </a:r>
            <a:r>
              <a:rPr sz="1130">
                <a:solidFill>
                  <a:srgbClr val="172033"/>
                </a:solidFill>
                <a:latin typeface="Aptos"/>
              </a:rPr>
              <a:t> Shared component work and test maintenance.</a:t>
            </a:r>
          </a:p>
          <a:p>
            <a:pPr algn="l"/>
            <a:r>
              <a:rPr sz="1130" b="1">
                <a:solidFill>
                  <a:srgbClr val="172033"/>
                </a:solidFill>
                <a:latin typeface="Aptos"/>
              </a:rPr>
              <a:t>Result:</a:t>
            </a:r>
            <a:r>
              <a:rPr sz="1130">
                <a:solidFill>
                  <a:srgbClr val="172033"/>
                </a:solidFill>
                <a:latin typeface="Aptos"/>
              </a:rPr>
              <a:t> Faster iteration during code review and onboarding.</a:t>
            </a:r>
          </a:p>
          <a:p>
            <a:pPr algn="l"/>
            <a:r>
              <a:rPr sz="1130" b="1">
                <a:solidFill>
                  <a:srgbClr val="172033"/>
                </a:solidFill>
                <a:latin typeface="Aptos"/>
              </a:rPr>
              <a:t>Quote:</a:t>
            </a:r>
            <a:r>
              <a:rPr sz="1130">
                <a:solidFill>
                  <a:srgbClr val="172033"/>
                </a:solidFill>
                <a:latin typeface="Aptos"/>
              </a:rPr>
              <a:t> "The lift comes from using Copilot across the whole review loop, not just code completion."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83296" y="1444752"/>
            <a:ext cx="3566160" cy="1993392"/>
          </a:xfrm>
          <a:prstGeom prst="roundRect">
            <a:avLst/>
          </a:prstGeom>
          <a:solidFill>
            <a:srgbClr val="D9F5EA"/>
          </a:solidFill>
          <a:ln>
            <a:solidFill>
              <a:srgbClr val="D8E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93023" y="1554480"/>
            <a:ext cx="3346704" cy="329184"/>
          </a:xfrm>
          <a:prstGeom prst="roundRect">
            <a:avLst/>
          </a:prstGeom>
          <a:solidFill>
            <a:srgbClr val="2C6E49"/>
          </a:solidFill>
          <a:ln>
            <a:solidFill>
              <a:srgbClr val="2C6E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2752" y="1600200"/>
            <a:ext cx="31272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Proof-point card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6175" y="2011680"/>
            <a:ext cx="3200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172033"/>
                </a:solidFill>
                <a:latin typeface="Aptos"/>
              </a:rPr>
              <a:t>Use:</a:t>
            </a:r>
            <a:r>
              <a:rPr sz="1150">
                <a:solidFill>
                  <a:srgbClr val="172033"/>
                </a:solidFill>
                <a:latin typeface="Aptos"/>
              </a:rPr>
              <a:t> one before-and-after metric, one team, and one sentence of context.</a:t>
            </a:r>
          </a:p>
          <a:p>
            <a:pPr algn="l"/>
            <a:r>
              <a:rPr sz="1150" b="1">
                <a:solidFill>
                  <a:srgbClr val="172033"/>
                </a:solidFill>
                <a:latin typeface="Aptos"/>
              </a:rPr>
              <a:t>Goal:</a:t>
            </a:r>
            <a:r>
              <a:rPr sz="1150">
                <a:solidFill>
                  <a:srgbClr val="172033"/>
                </a:solidFill>
                <a:latin typeface="Aptos"/>
              </a:rPr>
              <a:t> Make the numbers feel real without sounding promotional.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83296" y="3703320"/>
            <a:ext cx="3566160" cy="2039112"/>
          </a:xfrm>
          <a:prstGeom prst="roundRect">
            <a:avLst/>
          </a:prstGeom>
          <a:solidFill>
            <a:srgbClr val="EAF0FF"/>
          </a:solidFill>
          <a:ln>
            <a:solidFill>
              <a:srgbClr val="D8E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193023" y="3813048"/>
            <a:ext cx="3346704" cy="329184"/>
          </a:xfrm>
          <a:prstGeom prst="roundRect">
            <a:avLst/>
          </a:prstGeom>
          <a:solidFill>
            <a:srgbClr val="243B7A"/>
          </a:solidFill>
          <a:ln>
            <a:solidFill>
              <a:srgbClr val="243B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02752" y="3858768"/>
            <a:ext cx="31272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Collection prompt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6175" y="4270248"/>
            <a:ext cx="320040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20">
                <a:solidFill>
                  <a:srgbClr val="172033"/>
                </a:solidFill>
                <a:latin typeface="Aptos"/>
              </a:rPr>
              <a:t>Pull quotes from surveys, retrospectives, or office hours.</a:t>
            </a:r>
          </a:p>
          <a:p>
            <a:pPr algn="l"/>
            <a:r>
              <a:rPr sz="1120">
                <a:solidFill>
                  <a:srgbClr val="172033"/>
                </a:solidFill>
                <a:latin typeface="Aptos"/>
              </a:rPr>
              <a:t>Collect them in the same quarter as the metrics.</a:t>
            </a:r>
          </a:p>
          <a:p>
            <a:pPr algn="l"/>
            <a:r>
              <a:rPr sz="1120">
                <a:solidFill>
                  <a:srgbClr val="172033"/>
                </a:solidFill>
                <a:latin typeface="Aptos"/>
              </a:rPr>
              <a:t>Prefer plainspoken language over polished slogans.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19088"/>
            <a:ext cx="64008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4D5B78"/>
                </a:solidFill>
                <a:latin typeface="Aptos"/>
              </a:rPr>
              <a:t>Bridge: Credibility also requires acknowledging what is not working yet.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600" y="6419088"/>
            <a:ext cx="2240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4D5B78"/>
                </a:solidFill>
                <a:latin typeface="Aptos"/>
              </a:rPr>
              <a:t>GitHub Copilot QBR Template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7680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172033"/>
                </a:solidFill>
                <a:latin typeface="Aptos"/>
              </a:rPr>
              <a:t>Slide 7: Risks and Blockers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58952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4D5B78"/>
                </a:solidFill>
                <a:latin typeface="Aptos"/>
              </a:rPr>
              <a:t>Show disciplined program management, not just optimistic reporting.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11183112" cy="109728"/>
          </a:xfrm>
          <a:prstGeom prst="rect">
            <a:avLst/>
          </a:prstGeom>
          <a:solidFill>
            <a:srgbClr val="CADCFC"/>
          </a:solidFill>
          <a:ln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49640" y="384048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1E2761"/>
                </a:solidFill>
                <a:latin typeface="Aptos"/>
              </a:rPr>
              <a:t>Every risk gets an owner and action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44752"/>
            <a:ext cx="3977639" cy="4315968"/>
          </a:xfrm>
          <a:prstGeom prst="roundRect">
            <a:avLst/>
          </a:prstGeom>
          <a:solidFill>
            <a:srgbClr val="FFFFFF"/>
          </a:solidFill>
          <a:ln>
            <a:solidFill>
              <a:srgbClr val="D8E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554480"/>
            <a:ext cx="3758183" cy="329184"/>
          </a:xfrm>
          <a:prstGeom prst="roundRect">
            <a:avLst/>
          </a:prstGeom>
          <a:solidFill>
            <a:srgbClr val="1E2761"/>
          </a:solidFill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600200"/>
            <a:ext cx="3538727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Risk areas to cover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011680"/>
            <a:ext cx="3611879" cy="36027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172033"/>
                </a:solidFill>
                <a:latin typeface="Aptos"/>
              </a:rPr>
              <a:t>Low-adoption pockets by org or workflow</a:t>
            </a:r>
          </a:p>
          <a:p>
            <a:pPr algn="l"/>
            <a:r>
              <a:rPr sz="1200">
                <a:solidFill>
                  <a:srgbClr val="172033"/>
                </a:solidFill>
                <a:latin typeface="Aptos"/>
              </a:rPr>
              <a:t>Capability gaps such as weak chat or edit usage</a:t>
            </a:r>
          </a:p>
          <a:p>
            <a:pPr algn="l"/>
            <a:r>
              <a:rPr sz="1200">
                <a:solidFill>
                  <a:srgbClr val="172033"/>
                </a:solidFill>
                <a:latin typeface="Aptos"/>
              </a:rPr>
              <a:t>Data limitations that weaken impact evidence</a:t>
            </a:r>
          </a:p>
          <a:p>
            <a:pPr algn="l"/>
            <a:r>
              <a:rPr sz="1200">
                <a:solidFill>
                  <a:srgbClr val="172033"/>
                </a:solidFill>
                <a:latin typeface="Aptos"/>
              </a:rPr>
              <a:t>Policy, compliance, or rollout friction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00600" y="1444752"/>
            <a:ext cx="6839712" cy="4315968"/>
          </a:xfrm>
          <a:prstGeom prst="roundRect">
            <a:avLst/>
          </a:prstGeom>
          <a:solidFill>
            <a:srgbClr val="FFFFFF"/>
          </a:solidFill>
          <a:ln>
            <a:solidFill>
              <a:srgbClr val="D8E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83480" y="1828800"/>
            <a:ext cx="1051560" cy="658368"/>
          </a:xfrm>
          <a:prstGeom prst="rect">
            <a:avLst/>
          </a:prstGeom>
          <a:solidFill>
            <a:srgbClr val="E68484"/>
          </a:solidFill>
          <a:ln>
            <a:solidFill>
              <a:srgbClr val="E684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80" y="2075688"/>
            <a:ext cx="10515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172033"/>
                </a:solidFill>
                <a:latin typeface="Aptos"/>
              </a:rPr>
              <a:t>High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3480" y="2697480"/>
            <a:ext cx="1051560" cy="658368"/>
          </a:xfrm>
          <a:prstGeom prst="rect">
            <a:avLst/>
          </a:prstGeom>
          <a:solidFill>
            <a:srgbClr val="F2C66E"/>
          </a:solidFill>
          <a:ln>
            <a:solidFill>
              <a:srgbClr val="F2C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2944368"/>
            <a:ext cx="10515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172033"/>
                </a:solidFill>
                <a:latin typeface="Aptos"/>
              </a:rPr>
              <a:t>Medium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83480" y="3566160"/>
            <a:ext cx="1051560" cy="658368"/>
          </a:xfrm>
          <a:prstGeom prst="rect">
            <a:avLst/>
          </a:prstGeom>
          <a:solidFill>
            <a:srgbClr val="7BC17D"/>
          </a:solidFill>
          <a:ln>
            <a:solidFill>
              <a:srgbClr val="7BC1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83480" y="3813048"/>
            <a:ext cx="10515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172033"/>
                </a:solidFill>
                <a:latin typeface="Aptos"/>
              </a:rPr>
              <a:t>Managed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83480" y="1554480"/>
            <a:ext cx="10515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172033"/>
                </a:solidFill>
                <a:latin typeface="Aptos"/>
              </a:rPr>
              <a:t>Status cues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1874519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E2761"/>
                </a:solidFill>
                <a:latin typeface="Aptos"/>
              </a:rPr>
              <a:t>Example structure:
Risk | Impact | Status | Action | Owner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2834640"/>
            <a:ext cx="45262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172033"/>
                </a:solidFill>
                <a:latin typeface="Aptos"/>
              </a:rPr>
              <a:t>Name the org or workflow lagging.</a:t>
            </a:r>
          </a:p>
          <a:p>
            <a:pPr algn="l"/>
            <a:r>
              <a:rPr sz="1200">
                <a:solidFill>
                  <a:srgbClr val="172033"/>
                </a:solidFill>
                <a:latin typeface="Aptos"/>
              </a:rPr>
              <a:t>State the leadership intervention threshold.</a:t>
            </a:r>
          </a:p>
          <a:p>
            <a:pPr algn="l"/>
            <a:r>
              <a:rPr sz="1200">
                <a:solidFill>
                  <a:srgbClr val="172033"/>
                </a:solidFill>
                <a:latin typeface="Aptos"/>
              </a:rPr>
              <a:t>Show mitigation already underway.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4315968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4D5B78"/>
                </a:solidFill>
                <a:latin typeface="Aptos"/>
              </a:rPr>
              <a:t>Example: Security engineering remains below 35% seat utilization; targeted enablement and policy unblock are owned by the platform lead.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64008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4D5B78"/>
                </a:solidFill>
                <a:latin typeface="Aptos"/>
              </a:rPr>
              <a:t>Bridge: Close by showing the plan that addresses these blockers next quarter.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72600" y="6419088"/>
            <a:ext cx="2240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4D5B78"/>
                </a:solidFill>
                <a:latin typeface="Aptos"/>
              </a:rPr>
              <a:t>GitHub Copilot QBR Template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7680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172033"/>
                </a:solidFill>
                <a:latin typeface="Aptos"/>
              </a:rPr>
              <a:t>Slide 8: Next-Quarter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58952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4D5B78"/>
                </a:solidFill>
                <a:latin typeface="Aptos"/>
              </a:rPr>
              <a:t>Convert the review into a forward-looking operating plan.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11183112" cy="109728"/>
          </a:xfrm>
          <a:prstGeom prst="rect">
            <a:avLst/>
          </a:prstGeom>
          <a:solidFill>
            <a:srgbClr val="CADCFC"/>
          </a:solidFill>
          <a:ln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49640" y="384048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1E2761"/>
                </a:solidFill>
                <a:latin typeface="Aptos"/>
              </a:rPr>
              <a:t>Initiatives, targets, and accountable owners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44752"/>
            <a:ext cx="7086600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D8E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554480"/>
            <a:ext cx="6867144" cy="329184"/>
          </a:xfrm>
          <a:prstGeom prst="roundRect">
            <a:avLst/>
          </a:prstGeom>
          <a:solidFill>
            <a:srgbClr val="243B7A"/>
          </a:solidFill>
          <a:ln>
            <a:solidFill>
              <a:srgbClr val="243B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600200"/>
            <a:ext cx="66476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Roadmap guidance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011680"/>
            <a:ext cx="6720840" cy="3584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72033"/>
                </a:solidFill>
                <a:latin typeface="Aptos"/>
              </a:rPr>
              <a:t>Structure:</a:t>
            </a:r>
            <a:r>
              <a:rPr sz="1200">
                <a:solidFill>
                  <a:srgbClr val="172033"/>
                </a:solidFill>
                <a:latin typeface="Aptos"/>
              </a:rPr>
              <a:t> Use three lanes: initiative, measurable target, and timing or owner.</a:t>
            </a:r>
          </a:p>
          <a:p>
            <a:pPr algn="l"/>
            <a:r>
              <a:rPr sz="1200" b="1">
                <a:solidFill>
                  <a:srgbClr val="172033"/>
                </a:solidFill>
                <a:latin typeface="Aptos"/>
              </a:rPr>
              <a:t>Targets:</a:t>
            </a:r>
            <a:r>
              <a:rPr sz="1200">
                <a:solidFill>
                  <a:srgbClr val="172033"/>
                </a:solidFill>
                <a:latin typeface="Aptos"/>
              </a:rPr>
              <a:t> Include 3-5 targets spanning adoption, engagement, impact, and program health.</a:t>
            </a:r>
          </a:p>
          <a:p>
            <a:pPr algn="l"/>
            <a:r>
              <a:rPr sz="1200" b="1">
                <a:solidFill>
                  <a:srgbClr val="172033"/>
                </a:solidFill>
                <a:latin typeface="Aptos"/>
              </a:rPr>
              <a:t>Example:</a:t>
            </a:r>
            <a:r>
              <a:rPr sz="1200">
                <a:solidFill>
                  <a:srgbClr val="172033"/>
                </a:solidFill>
                <a:latin typeface="Aptos"/>
              </a:rPr>
              <a:t> Expand agent-mode enablement to five pilot teams with a target of 25% active-user adoption by weeks 2-6 of Q4.</a:t>
            </a:r>
          </a:p>
          <a:p>
            <a:pPr algn="l"/>
            <a:r>
              <a:rPr sz="1200" b="1">
                <a:solidFill>
                  <a:srgbClr val="172033"/>
                </a:solidFill>
                <a:latin typeface="Aptos"/>
              </a:rPr>
              <a:t>Close with:</a:t>
            </a:r>
            <a:r>
              <a:rPr sz="1200">
                <a:solidFill>
                  <a:srgbClr val="172033"/>
                </a:solidFill>
                <a:latin typeface="Aptos"/>
              </a:rPr>
              <a:t> one sentence that says the program needs optimization, not a strategy reset.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09560" y="1444752"/>
            <a:ext cx="3749039" cy="1325880"/>
          </a:xfrm>
          <a:prstGeom prst="roundRect">
            <a:avLst/>
          </a:prstGeom>
          <a:solidFill>
            <a:srgbClr val="F9E795"/>
          </a:solidFill>
          <a:ln>
            <a:solidFill>
              <a:srgbClr val="D8E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019288" y="1554480"/>
            <a:ext cx="3529583" cy="329184"/>
          </a:xfrm>
          <a:prstGeom prst="roundRect">
            <a:avLst/>
          </a:prstGeom>
          <a:solidFill>
            <a:srgbClr val="7B6400"/>
          </a:solidFill>
          <a:ln>
            <a:solidFill>
              <a:srgbClr val="7B6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29016" y="1600200"/>
            <a:ext cx="3310127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Target card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2011680"/>
            <a:ext cx="3383279" cy="6126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>
                <a:solidFill>
                  <a:srgbClr val="172033"/>
                </a:solidFill>
                <a:latin typeface="Aptos"/>
              </a:rPr>
              <a:t>Adoption
[X]% -&gt; [Y]%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09560" y="2907792"/>
            <a:ext cx="3749039" cy="1325880"/>
          </a:xfrm>
          <a:prstGeom prst="roundRect">
            <a:avLst/>
          </a:prstGeom>
          <a:solidFill>
            <a:srgbClr val="D9F5EA"/>
          </a:solidFill>
          <a:ln>
            <a:solidFill>
              <a:srgbClr val="D8E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19288" y="3017520"/>
            <a:ext cx="3529583" cy="329184"/>
          </a:xfrm>
          <a:prstGeom prst="roundRect">
            <a:avLst/>
          </a:prstGeom>
          <a:solidFill>
            <a:srgbClr val="2C6E49"/>
          </a:solidFill>
          <a:ln>
            <a:solidFill>
              <a:srgbClr val="2C6E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29016" y="3063240"/>
            <a:ext cx="3310127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Target card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40" y="3474720"/>
            <a:ext cx="3383279" cy="6126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>
                <a:solidFill>
                  <a:srgbClr val="172033"/>
                </a:solidFill>
                <a:latin typeface="Aptos"/>
              </a:rPr>
              <a:t>Agent usage
[X]% -&gt; [Y]%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4370832"/>
            <a:ext cx="3749039" cy="1325880"/>
          </a:xfrm>
          <a:prstGeom prst="roundRect">
            <a:avLst/>
          </a:prstGeom>
          <a:solidFill>
            <a:srgbClr val="EAF0FF"/>
          </a:solidFill>
          <a:ln>
            <a:solidFill>
              <a:srgbClr val="D8E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19288" y="4480560"/>
            <a:ext cx="3529583" cy="329184"/>
          </a:xfrm>
          <a:prstGeom prst="roundRect">
            <a:avLst/>
          </a:prstGeom>
          <a:solidFill>
            <a:srgbClr val="243B7A"/>
          </a:solidFill>
          <a:ln>
            <a:solidFill>
              <a:srgbClr val="243B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29016" y="4526280"/>
            <a:ext cx="3310127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Target card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2440" y="4937760"/>
            <a:ext cx="3383279" cy="6126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172033"/>
                </a:solidFill>
                <a:latin typeface="Aptos"/>
              </a:rPr>
              <a:t>Program health
Idle seats, survey, evidence quality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19088"/>
            <a:ext cx="64008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4D5B78"/>
                </a:solidFill>
                <a:latin typeface="Aptos"/>
              </a:rPr>
              <a:t>Executive closing example: targeted enablement plus tighter proof and license optimization.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600" y="6419088"/>
            <a:ext cx="2240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4D5B78"/>
                </a:solidFill>
                <a:latin typeface="Aptos"/>
              </a:rPr>
              <a:t>GitHub Copilot QBR Template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7680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172033"/>
                </a:solidFill>
                <a:latin typeface="Aptos"/>
              </a:rPr>
              <a:t>Appendix: Data Sources and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58952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4D5B78"/>
                </a:solidFill>
                <a:latin typeface="Aptos"/>
              </a:rPr>
              <a:t>Keep the main deck executive-friendly while preserving analytical defensibility.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11183112" cy="109728"/>
          </a:xfrm>
          <a:prstGeom prst="rect">
            <a:avLst/>
          </a:prstGeom>
          <a:solidFill>
            <a:srgbClr val="CADCFC"/>
          </a:solidFill>
          <a:ln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49640" y="384048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1E2761"/>
                </a:solidFill>
                <a:latin typeface="Aptos"/>
              </a:rPr>
              <a:t>Optional backup slide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44752"/>
          <a:ext cx="1110996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2011680"/>
                <a:gridCol w="2468880"/>
                <a:gridCol w="4709160"/>
              </a:tblGrid>
              <a:tr h="64661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Data point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Source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Collection method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Limitation to disclose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64661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72033"/>
                          </a:solidFill>
                          <a:latin typeface="Aptos"/>
                        </a:rPr>
                        <a:t>Utilization, MAU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72033"/>
                          </a:solidFill>
                          <a:latin typeface="Aptos"/>
                        </a:rPr>
                        <a:t>GitHub dashboard or API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72033"/>
                          </a:solidFill>
                          <a:latin typeface="Aptos"/>
                        </a:rPr>
                        <a:t>Automated export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72033"/>
                          </a:solidFill>
                          <a:latin typeface="Aptos"/>
                        </a:rPr>
                        <a:t>Rolling-window definitions can shift week to week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72033"/>
                          </a:solidFill>
                          <a:latin typeface="Aptos"/>
                        </a:rPr>
                        <a:t>Acceptance, chat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72033"/>
                          </a:solidFill>
                          <a:latin typeface="Aptos"/>
                        </a:rPr>
                        <a:t>GitHub dashboard or API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72033"/>
                          </a:solidFill>
                          <a:latin typeface="Aptos"/>
                        </a:rPr>
                        <a:t>Automated export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72033"/>
                          </a:solidFill>
                          <a:latin typeface="Aptos"/>
                        </a:rPr>
                        <a:t>Often aggregate, not user-level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72033"/>
                          </a:solidFill>
                          <a:latin typeface="Aptos"/>
                        </a:rPr>
                        <a:t>Code gen, edits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72033"/>
                          </a:solidFill>
                          <a:latin typeface="Aptos"/>
                        </a:rPr>
                        <a:t>Code generation dashboard or API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72033"/>
                          </a:solidFill>
                          <a:latin typeface="Aptos"/>
                        </a:rPr>
                        <a:t>Automated export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72033"/>
                          </a:solidFill>
                          <a:latin typeface="Aptos"/>
                        </a:rPr>
                        <a:t>Feature detail varies by plan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72033"/>
                          </a:solidFill>
                          <a:latin typeface="Aptos"/>
                        </a:rPr>
                        <a:t>Delivery outcomes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72033"/>
                          </a:solidFill>
                          <a:latin typeface="Aptos"/>
                        </a:rPr>
                        <a:t>DevLake, git, CI/CD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72033"/>
                          </a:solidFill>
                          <a:latin typeface="Aptos"/>
                        </a:rPr>
                        <a:t>Cohort comparison or trend analysis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72033"/>
                          </a:solidFill>
                          <a:latin typeface="Aptos"/>
                        </a:rPr>
                        <a:t>Multiple process changes may affect attribution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72033"/>
                          </a:solidFill>
                          <a:latin typeface="Aptos"/>
                        </a:rPr>
                        <a:t>Developer sentiment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72033"/>
                          </a:solidFill>
                          <a:latin typeface="Aptos"/>
                        </a:rPr>
                        <a:t>Internal pulse survey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72033"/>
                          </a:solidFill>
                          <a:latin typeface="Aptos"/>
                        </a:rPr>
                        <a:t>Survey or interview synthesis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72033"/>
                          </a:solidFill>
                          <a:latin typeface="Aptos"/>
                        </a:rPr>
                        <a:t>Self-reported and response-rate sensitive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661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72033"/>
                          </a:solidFill>
                          <a:latin typeface="Aptos"/>
                        </a:rPr>
                        <a:t>ROI calculations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72033"/>
                          </a:solidFill>
                          <a:latin typeface="Aptos"/>
                        </a:rPr>
                        <a:t>Derived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72033"/>
                          </a:solidFill>
                          <a:latin typeface="Aptos"/>
                        </a:rPr>
                        <a:t>Finance-reviewed assumptions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72033"/>
                          </a:solidFill>
                          <a:latin typeface="Aptos"/>
                        </a:rPr>
                        <a:t>Estimate, not proof of sole causality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6419088"/>
            <a:ext cx="64008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4D5B78"/>
                </a:solidFill>
                <a:latin typeface="Aptos"/>
              </a:rPr>
              <a:t>Move long methods detail to speaker notes if the appendix starts to crowd.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6419088"/>
            <a:ext cx="2240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4D5B78"/>
                </a:solidFill>
                <a:latin typeface="Aptos"/>
              </a:rPr>
              <a:t>GitHub Copilot QBR Template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